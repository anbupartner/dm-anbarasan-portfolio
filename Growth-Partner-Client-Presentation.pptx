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C2C2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2C2C2A"/>
                </a:solidFill>
                <a:latin typeface="Calibri"/>
              </a:rPr>
              <a:t>Return on Spend (×)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Multiple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C2C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Sysvine</c:v>
                  </c:pt>
                  <c:pt idx="1">
                    <c:v>Ground Infra</c:v>
                  </c:pt>
                  <c:pt idx="2">
                    <c:v>East Bay Dental</c:v>
                  </c:pt>
                  <c:pt idx="3">
                    <c:v>Trioangle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19.6</c:v>
                </c:pt>
                <c:pt idx="1">
                  <c:v>12</c:v>
                </c:pt>
                <c:pt idx="2">
                  <c:v>9</c:v>
                </c:pt>
                <c:pt idx="3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C2C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A6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A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1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5029200" cy="5029200"/>
          </a:xfrm>
          <a:prstGeom prst="ellipse">
            <a:avLst/>
          </a:prstGeom>
          <a:solidFill>
            <a:srgbClr val="7F77DD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1D9E75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CE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AVAILABLE FOR NEW GROWTH PARTNERSHIPS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Growth Strategy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D2C, B2C &amp; B2B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marketing investment into measurable business growth — qualified leads, customer acquisition, revenue and ROI.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3931920" cy="777240"/>
          </a:xfrm>
          <a:prstGeom prst="roundRect">
            <a:avLst>
              <a:gd name="adj" fmla="val 14118"/>
            </a:avLst>
          </a:prstGeom>
          <a:solidFill>
            <a:srgbClr val="1D9E75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8920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$320M+ Client Revenue Generated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your business  •  Anbarasan, Growth Partner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Track Record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11+ years turning digital marketing into measurable business growth across D2C, B2C and B2B.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8E6E1"/>
            </a:solidFill>
            <a:prstDash val="solid"/>
          </a:ln>
          <a:effectLst>
            <a:outerShdw sx="100000" sy="100000" kx="0" ky="0" algn="bl" rotWithShape="0" blurRad="127000" dist="38100" dir="5400000">
              <a:srgbClr val="6B68C4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F77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38+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200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DELIVERED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74720" y="20574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8E6E1"/>
            </a:solidFill>
            <a:prstDash val="solid"/>
          </a:ln>
          <a:effectLst>
            <a:outerShdw sx="100000" sy="100000" kx="0" ky="0" algn="bl" rotWithShape="0" blurRad="127000" dist="38100" dir="5400000">
              <a:srgbClr val="6B68C4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74720" y="23774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F77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450M+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3200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 GENERATED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09360" y="20574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8E6E1"/>
            </a:solidFill>
            <a:prstDash val="solid"/>
          </a:ln>
          <a:effectLst>
            <a:outerShdw sx="100000" sy="100000" kx="0" ky="0" algn="bl" rotWithShape="0" blurRad="127000" dist="38100" dir="5400000">
              <a:srgbClr val="6B68C4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09360" y="23774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F77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1,340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3200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RANKED #1–10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44000" y="205740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8E6E1"/>
            </a:solidFill>
            <a:prstDash val="solid"/>
          </a:ln>
          <a:effectLst>
            <a:outerShdw sx="100000" sy="100000" kx="0" ky="0" algn="bl" rotWithShape="0" blurRad="127000" dist="38100" dir="5400000">
              <a:srgbClr val="6B68C4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44000" y="237744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F77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$320M+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9281160" y="32004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REVENUE GENERATED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160520"/>
            <a:ext cx="6217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is compounding: revenue generated per client engagement keeps climbing year over year.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02920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38+ engagements across Manufacturing, Healthcare, Technology, E-commerce, Finance and more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return of 8–12x marketing spend across case studies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spans lead generation, ARR growth, e-commerce revenue and patient/customer acquisition</a:t>
            </a:r>
            <a:endParaRPr lang="en-US" sz="13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7178040" y="4114800"/>
          <a:ext cx="438912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Partner  •  Digital Marketing Consultant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26215C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7F77DD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22860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11+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918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TURNING DIGITAL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INTO BUSINESS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26280" y="54864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Anbarasan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4526280" y="132588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11+ years, I've worked across D2C, B2C and B2B businesses, helping companies fix inconsistent lead generation, rising acquisition costs, low organic visibility, weak conversion rates and disconnected marketing data.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33172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approach goes beyond managing individual channels — I look at the full growth journey (objectives → audience → acquisition → conversion → retention → measurement) and build a practical strategy around it.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26280" y="3520440"/>
            <a:ext cx="1636776" cy="384048"/>
          </a:xfrm>
          <a:prstGeom prst="roundRect">
            <a:avLst>
              <a:gd name="adj" fmla="val 50000"/>
            </a:avLst>
          </a:prstGeom>
          <a:solidFill>
            <a:srgbClr val="F9F8FC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3520440"/>
            <a:ext cx="1636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Strategy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27648" y="3520440"/>
            <a:ext cx="1457554" cy="384048"/>
          </a:xfrm>
          <a:prstGeom prst="roundRect">
            <a:avLst>
              <a:gd name="adj" fmla="val 50000"/>
            </a:avLst>
          </a:prstGeom>
          <a:solidFill>
            <a:srgbClr val="F9F8FC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27648" y="3520440"/>
            <a:ext cx="14575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&amp; Content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949794" y="3520440"/>
            <a:ext cx="2174443" cy="384048"/>
          </a:xfrm>
          <a:prstGeom prst="roundRect">
            <a:avLst>
              <a:gd name="adj" fmla="val 50000"/>
            </a:avLst>
          </a:prstGeom>
          <a:solidFill>
            <a:srgbClr val="F9F8FC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49794" y="3520440"/>
            <a:ext cx="217444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Marketing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26280" y="4023360"/>
            <a:ext cx="2353666" cy="384048"/>
          </a:xfrm>
          <a:prstGeom prst="roundRect">
            <a:avLst>
              <a:gd name="adj" fmla="val 50000"/>
            </a:avLst>
          </a:prstGeom>
          <a:solidFill>
            <a:srgbClr val="F9F8FC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26280" y="4023360"/>
            <a:ext cx="23536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Optimization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044538" y="4023360"/>
            <a:ext cx="1547165" cy="384048"/>
          </a:xfrm>
          <a:prstGeom prst="roundRect">
            <a:avLst>
              <a:gd name="adj" fmla="val 50000"/>
            </a:avLst>
          </a:prstGeom>
          <a:solidFill>
            <a:srgbClr val="F9F8FC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44538" y="4023360"/>
            <a:ext cx="154716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Strategy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756294" y="4023360"/>
            <a:ext cx="2084832" cy="384048"/>
          </a:xfrm>
          <a:prstGeom prst="roundRect">
            <a:avLst>
              <a:gd name="adj" fmla="val 50000"/>
            </a:avLst>
          </a:prstGeom>
          <a:solidFill>
            <a:srgbClr val="F9F8FC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756294" y="4023360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Marketing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26280" y="4526280"/>
            <a:ext cx="1636776" cy="384048"/>
          </a:xfrm>
          <a:prstGeom prst="roundRect">
            <a:avLst>
              <a:gd name="adj" fmla="val 50000"/>
            </a:avLst>
          </a:prstGeom>
          <a:solidFill>
            <a:srgbClr val="F9F8FC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26280" y="4526280"/>
            <a:ext cx="1636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 &amp; Analytics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327648" y="4526280"/>
            <a:ext cx="1636776" cy="384048"/>
          </a:xfrm>
          <a:prstGeom prst="roundRect">
            <a:avLst>
              <a:gd name="adj" fmla="val 50000"/>
            </a:avLst>
          </a:prstGeom>
          <a:solidFill>
            <a:srgbClr val="F9F8FC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27648" y="4526280"/>
            <a:ext cx="1636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Integration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26280" y="4892040"/>
            <a:ext cx="7040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7F77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“From startups looking to establish demand to established businesses looking to scale efficiently — my focus stays the same: find what's limiting growth, fix it, measure the impact and continuously improve.”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Partner  •  Digital Marketing Consultant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Approach to Growth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strategic pillars: acquiring customers efficiently, converting them at higher rates, and retaining them for lifetime value.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8E6E1"/>
            </a:solidFill>
            <a:prstDash val="solid"/>
          </a:ln>
          <a:effectLst>
            <a:outerShdw sx="100000" sy="100000" kx="0" ky="0" algn="bl" rotWithShape="0" blurRad="101600" dist="25400" dir="5400000">
              <a:srgbClr val="6B68C4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240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77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83464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Acquisition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3375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efficient channels to attract your ideal customers.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4114800"/>
            <a:ext cx="2788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1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Marketing (Google, LinkedIn, Meta)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1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&amp; Organic Growth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1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Strategy &amp; Thought Leadership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8E6E1"/>
            </a:solidFill>
            <a:prstDash val="solid"/>
          </a:ln>
          <a:effectLst>
            <a:outerShdw sx="100000" sy="100000" kx="0" ky="0" algn="bl" rotWithShape="0" blurRad="101600" dist="25400" dir="5400000">
              <a:srgbClr val="6B68C4">
                <a:alpha val="14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63440" y="2240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77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83464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Conversion Optimization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3375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the revenue potential of every visitor.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4114800"/>
            <a:ext cx="2788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1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UX &amp; CRO Testing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1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&amp; Funnel Design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1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A/B Testing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429000" cy="42062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8E6E1"/>
            </a:solidFill>
            <a:prstDash val="solid"/>
          </a:ln>
          <a:effectLst>
            <a:outerShdw sx="100000" sy="100000" kx="0" ky="0" algn="bl" rotWithShape="0" blurRad="101600" dist="25400" dir="5400000">
              <a:srgbClr val="6B68C4">
                <a:alpha val="14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366760" y="22402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F77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283464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Retention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33375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loyalty and long-term customer value.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4114800"/>
            <a:ext cx="2788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1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Marketing &amp; Automation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1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&amp; Lifecycle Campaigns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→"/>
            </a:pPr>
            <a:r>
              <a:rPr lang="en-US" sz="11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&amp; Advocacy Programs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Partner  •  Digital Marketing Consultant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Services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growth capabilities built around your business goals.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06040" cy="2148840"/>
          </a:xfrm>
          <a:prstGeom prst="roundRect">
            <a:avLst>
              <a:gd name="adj" fmla="val 3830"/>
            </a:avLst>
          </a:prstGeom>
          <a:solidFill>
            <a:srgbClr val="F9F8FC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30552"/>
            <a:ext cx="502920" cy="502920"/>
          </a:xfrm>
          <a:prstGeom prst="ellipse">
            <a:avLst/>
          </a:prstGeom>
          <a:solidFill>
            <a:srgbClr val="7F77D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30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&amp; Strategy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461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Audit, roadmap and growth strategy formulation.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47288" y="1874520"/>
            <a:ext cx="2606040" cy="2148840"/>
          </a:xfrm>
          <a:prstGeom prst="roundRect">
            <a:avLst>
              <a:gd name="adj" fmla="val 3830"/>
            </a:avLst>
          </a:prstGeom>
          <a:solidFill>
            <a:srgbClr val="F9F8FC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75888" y="2130552"/>
            <a:ext cx="502920" cy="502920"/>
          </a:xfrm>
          <a:prstGeom prst="ellipse">
            <a:avLst/>
          </a:prstGeom>
          <a:solidFill>
            <a:srgbClr val="7F77D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75888" y="2130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1430" dirty="0"/>
          </a:p>
        </p:txBody>
      </p:sp>
      <p:sp>
        <p:nvSpPr>
          <p:cNvPr id="12" name="Text 10"/>
          <p:cNvSpPr txBox="1"/>
          <p:nvPr/>
        </p:nvSpPr>
        <p:spPr>
          <a:xfrm>
            <a:off x="3630168" y="27889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Marketing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630168" y="32461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Google, LinkedIn, Meta — paid channels optimized for ROI.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54496" y="1874520"/>
            <a:ext cx="2606040" cy="2148840"/>
          </a:xfrm>
          <a:prstGeom prst="roundRect">
            <a:avLst>
              <a:gd name="adj" fmla="val 3830"/>
            </a:avLst>
          </a:prstGeom>
          <a:solidFill>
            <a:srgbClr val="F9F8FC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83096" y="2130552"/>
            <a:ext cx="502920" cy="502920"/>
          </a:xfrm>
          <a:prstGeom prst="ellipse">
            <a:avLst/>
          </a:prstGeom>
          <a:solidFill>
            <a:srgbClr val="7F77D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83096" y="2130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30" dirty="0"/>
          </a:p>
        </p:txBody>
      </p:sp>
      <p:sp>
        <p:nvSpPr>
          <p:cNvPr id="17" name="Text 15"/>
          <p:cNvSpPr txBox="1"/>
          <p:nvPr/>
        </p:nvSpPr>
        <p:spPr>
          <a:xfrm>
            <a:off x="6437376" y="27889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&amp; Organic Growth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37376" y="32461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SEO, content strategy, long-term search authority.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61704" y="1874520"/>
            <a:ext cx="2606040" cy="2148840"/>
          </a:xfrm>
          <a:prstGeom prst="roundRect">
            <a:avLst>
              <a:gd name="adj" fmla="val 3830"/>
            </a:avLst>
          </a:prstGeom>
          <a:solidFill>
            <a:srgbClr val="F9F8FC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90304" y="2130552"/>
            <a:ext cx="502920" cy="502920"/>
          </a:xfrm>
          <a:prstGeom prst="ellipse">
            <a:avLst/>
          </a:prstGeom>
          <a:solidFill>
            <a:srgbClr val="7F77D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90304" y="2130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¶</a:t>
            </a:r>
            <a:endParaRPr lang="en-US" sz="1430" dirty="0"/>
          </a:p>
        </p:txBody>
      </p:sp>
      <p:sp>
        <p:nvSpPr>
          <p:cNvPr id="22" name="Text 20"/>
          <p:cNvSpPr txBox="1"/>
          <p:nvPr/>
        </p:nvSpPr>
        <p:spPr>
          <a:xfrm>
            <a:off x="9244584" y="27889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Thought Leadership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244584" y="32461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Blogs, whitepapers, case studies, executive positioning.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4297680"/>
            <a:ext cx="2606040" cy="2148840"/>
          </a:xfrm>
          <a:prstGeom prst="roundRect">
            <a:avLst>
              <a:gd name="adj" fmla="val 3830"/>
            </a:avLst>
          </a:prstGeom>
          <a:solidFill>
            <a:srgbClr val="F9F8FC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4553712"/>
            <a:ext cx="502920" cy="502920"/>
          </a:xfrm>
          <a:prstGeom prst="ellipse">
            <a:avLst/>
          </a:prstGeom>
          <a:solidFill>
            <a:srgbClr val="7F77D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68680" y="4553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43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52120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&amp; CRO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56692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testing, landing pages, funnel analysis.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47288" y="4297680"/>
            <a:ext cx="2606040" cy="2148840"/>
          </a:xfrm>
          <a:prstGeom prst="roundRect">
            <a:avLst>
              <a:gd name="adj" fmla="val 3830"/>
            </a:avLst>
          </a:prstGeom>
          <a:solidFill>
            <a:srgbClr val="F9F8FC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75888" y="4553712"/>
            <a:ext cx="502920" cy="502920"/>
          </a:xfrm>
          <a:prstGeom prst="ellipse">
            <a:avLst/>
          </a:prstGeom>
          <a:solidFill>
            <a:srgbClr val="7F77D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675888" y="4553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</a:t>
            </a:r>
            <a:endParaRPr lang="en-US" sz="1430" dirty="0"/>
          </a:p>
        </p:txBody>
      </p:sp>
      <p:sp>
        <p:nvSpPr>
          <p:cNvPr id="32" name="Text 30"/>
          <p:cNvSpPr txBox="1"/>
          <p:nvPr/>
        </p:nvSpPr>
        <p:spPr>
          <a:xfrm>
            <a:off x="3630168" y="52120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&amp; Automation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3630168" y="56692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Segmentation, nurture sequences, lifecycle campaigns.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54496" y="4297680"/>
            <a:ext cx="2606040" cy="2148840"/>
          </a:xfrm>
          <a:prstGeom prst="roundRect">
            <a:avLst>
              <a:gd name="adj" fmla="val 3830"/>
            </a:avLst>
          </a:prstGeom>
          <a:solidFill>
            <a:srgbClr val="F9F8FC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83096" y="4553712"/>
            <a:ext cx="502920" cy="502920"/>
          </a:xfrm>
          <a:prstGeom prst="ellipse">
            <a:avLst/>
          </a:prstGeom>
          <a:solidFill>
            <a:srgbClr val="7F77D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83096" y="4553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430" dirty="0"/>
          </a:p>
        </p:txBody>
      </p:sp>
      <p:sp>
        <p:nvSpPr>
          <p:cNvPr id="37" name="Text 35"/>
          <p:cNvSpPr txBox="1"/>
          <p:nvPr/>
        </p:nvSpPr>
        <p:spPr>
          <a:xfrm>
            <a:off x="6437376" y="52120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&amp; Community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437376" y="56692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Content, community management, influencer partnerships.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061704" y="4297680"/>
            <a:ext cx="2606040" cy="2148840"/>
          </a:xfrm>
          <a:prstGeom prst="roundRect">
            <a:avLst>
              <a:gd name="adj" fmla="val 3830"/>
            </a:avLst>
          </a:prstGeom>
          <a:solidFill>
            <a:srgbClr val="F9F8FC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290304" y="4553712"/>
            <a:ext cx="502920" cy="502920"/>
          </a:xfrm>
          <a:prstGeom prst="ellipse">
            <a:avLst/>
          </a:prstGeom>
          <a:solidFill>
            <a:srgbClr val="7F77DD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290304" y="4553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endParaRPr lang="en-US" sz="1430" dirty="0"/>
          </a:p>
        </p:txBody>
      </p:sp>
      <p:sp>
        <p:nvSpPr>
          <p:cNvPr id="42" name="Text 40"/>
          <p:cNvSpPr txBox="1"/>
          <p:nvPr/>
        </p:nvSpPr>
        <p:spPr>
          <a:xfrm>
            <a:off x="9244584" y="52120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&amp; Analytics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9244584" y="566928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GA4, dashboards, CRM/martech integration.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Partner  •  Digital Marketing Consultant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My Project\dm-anbarasan-portfolio\assets\case_studies\case-1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583680" y="0"/>
            <a:ext cx="560527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0" y="0"/>
            <a:ext cx="5605272" cy="6858000"/>
          </a:xfrm>
          <a:prstGeom prst="rect">
            <a:avLst/>
          </a:prstGeom>
          <a:solidFill>
            <a:srgbClr val="26215C">
              <a:alpha val="60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40080" y="6858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 •  PROFESSIONAL SERVICES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09728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₹28L → ₹5.5Cr</a:t>
            </a:r>
            <a:endParaRPr lang="en-US" sz="34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Project Contracts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6974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Sysvine  —  B2B Branding + Business Acquisition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2461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₹28L investment in brand positioning and business-development marketing generated ₹5.5Cr in enterprise project pipeline — a nearly 20x return.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343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F77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8463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Contracts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2468880" y="4343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F77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₹5.5Cr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2468880" y="48463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Pipeline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4297680" y="4343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F77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+300%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4297680" y="48463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Awareness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Partner  •  Digital Marketing Consultant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My Project\dm-anbarasan-portfolio\assets\case_studies\case-1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560527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605272" cy="6858000"/>
          </a:xfrm>
          <a:prstGeom prst="rect">
            <a:avLst/>
          </a:prstGeom>
          <a:solidFill>
            <a:srgbClr val="26215C">
              <a:alpha val="60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5897880" y="6858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 •  DENTAL HEALTHCARE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897880" y="109728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$600K → $5.4M</a:t>
            </a:r>
            <a:endParaRPr lang="en-US" sz="34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Patient Revenue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897880" y="26974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Bay Dental Care  —  Performance Marketing for Patient Acquisition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897880" y="324612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$600K annual marketing investment generated $5.4M in patient revenue (9x ROAS) with 1,000+ qualified leads/month at ~$4 CPL — enabling expansion from 8 to 10 clinic locations.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897880" y="4434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F77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9x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5897880" y="49377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7726680" y="4434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F77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1,000+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7726680" y="49377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/ Month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9555480" y="4434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F77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8→10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9555480" y="49377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Partner  •  Digital Marketing Consultant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Across Industries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 of engagements spanning real estate, technology and manufacturing.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8E6E1"/>
            </a:solidFill>
            <a:prstDash val="solid"/>
          </a:ln>
        </p:spPr>
      </p:sp>
      <p:pic>
        <p:nvPicPr>
          <p:cNvPr id="5" name="Image 0" descr="E:\My Project\dm-anbarasan-portfolio\assets\case_studies\case-2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4672" y="2084832"/>
            <a:ext cx="1645920" cy="1636776"/>
          </a:xfrm>
          <a:prstGeom prst="ellipse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606040" y="2103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2606040" y="23591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₹25L → ₹3Cr in Property Sales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606040" y="2834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Infra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2606040" y="312724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+ branding drove +280% property inquiries and +120% units sold.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217920" y="192024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8E6E1"/>
            </a:solidFill>
            <a:prstDash val="solid"/>
          </a:ln>
        </p:spPr>
      </p:sp>
      <p:pic>
        <p:nvPicPr>
          <p:cNvPr id="11" name="Image 1" descr="E:\My Project\dm-anbarasan-portfolio\assets\case_studies\case-4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82512" y="2084832"/>
            <a:ext cx="1645920" cy="1636776"/>
          </a:xfrm>
          <a:prstGeom prst="ellipse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183880" y="2103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8183880" y="23591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₹50L → ₹2Cr in Closed Deals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8183880" y="2834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Redington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8183880" y="312724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+400% B2B leads, +250% pipeline value, 3.5x ROAS.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40080" y="416052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8E6E1"/>
            </a:solidFill>
            <a:prstDash val="solid"/>
          </a:ln>
        </p:spPr>
      </p:sp>
      <p:pic>
        <p:nvPicPr>
          <p:cNvPr id="17" name="Image 2" descr="E:\My Project\dm-anbarasan-portfolio\assets\case_studies\case-7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4672" y="4325112"/>
            <a:ext cx="1645920" cy="1636776"/>
          </a:xfrm>
          <a:prstGeom prst="ellipse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2606040" y="4343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950" dirty="0"/>
          </a:p>
        </p:txBody>
      </p:sp>
      <p:sp>
        <p:nvSpPr>
          <p:cNvPr id="19" name="Text 14"/>
          <p:cNvSpPr txBox="1"/>
          <p:nvPr/>
        </p:nvSpPr>
        <p:spPr>
          <a:xfrm>
            <a:off x="2606040" y="45994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₹25L → ₹2Cr in Client Contracts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2606040" y="5074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Trioangle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2606040" y="536752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branding won 8 new enterprise clients.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217920" y="416052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8E6E1"/>
            </a:solidFill>
            <a:prstDash val="solid"/>
          </a:ln>
        </p:spPr>
      </p:sp>
      <p:pic>
        <p:nvPicPr>
          <p:cNvPr id="23" name="Image 3" descr="E:\My Project\dm-anbarasan-portfolio\assets\case_studies\case-1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382512" y="4325112"/>
            <a:ext cx="1645920" cy="1636776"/>
          </a:xfrm>
          <a:prstGeom prst="ellipse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183880" y="4343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950" dirty="0"/>
          </a:p>
        </p:txBody>
      </p:sp>
      <p:sp>
        <p:nvSpPr>
          <p:cNvPr id="25" name="Text 19"/>
          <p:cNvSpPr txBox="1"/>
          <p:nvPr/>
        </p:nvSpPr>
        <p:spPr>
          <a:xfrm>
            <a:off x="8183880" y="45994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₹60L → ₹2.4Cr in Revenue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8183880" y="5074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George Maijo Agri Machinery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8183880" y="536752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 ROAS across dealer and farmer acquisition.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Partner  •  Digital Marketing Consultant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Industries Served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strategy adapts to your industry — not the other way around.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536192" cy="1783080"/>
          </a:xfrm>
          <a:prstGeom prst="roundRect">
            <a:avLst>
              <a:gd name="adj" fmla="val 4762"/>
            </a:avLst>
          </a:prstGeom>
          <a:solidFill>
            <a:srgbClr val="F9F8FC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423160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94944" y="320040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95144" y="2148840"/>
            <a:ext cx="1536192" cy="1783080"/>
          </a:xfrm>
          <a:prstGeom prst="roundRect">
            <a:avLst>
              <a:gd name="adj" fmla="val 4762"/>
            </a:avLst>
          </a:prstGeom>
          <a:solidFill>
            <a:srgbClr val="F9F8FC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95144" y="2423160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2350008" y="320040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&amp; Hospitality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50208" y="2148840"/>
            <a:ext cx="1536192" cy="1783080"/>
          </a:xfrm>
          <a:prstGeom prst="roundRect">
            <a:avLst>
              <a:gd name="adj" fmla="val 4762"/>
            </a:avLst>
          </a:prstGeom>
          <a:solidFill>
            <a:srgbClr val="F9F8FC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950208" y="2423160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4005072" y="320040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05272" y="2148840"/>
            <a:ext cx="1536192" cy="1783080"/>
          </a:xfrm>
          <a:prstGeom prst="roundRect">
            <a:avLst>
              <a:gd name="adj" fmla="val 4762"/>
            </a:avLst>
          </a:prstGeom>
          <a:solidFill>
            <a:srgbClr val="F9F8FC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05272" y="2423160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⚕️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5660136" y="320040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60336" y="2148840"/>
            <a:ext cx="1536192" cy="1783080"/>
          </a:xfrm>
          <a:prstGeom prst="roundRect">
            <a:avLst>
              <a:gd name="adj" fmla="val 4762"/>
            </a:avLst>
          </a:prstGeom>
          <a:solidFill>
            <a:srgbClr val="F9F8FC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60336" y="2423160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🦷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320040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15400" y="2148840"/>
            <a:ext cx="1536192" cy="1783080"/>
          </a:xfrm>
          <a:prstGeom prst="roundRect">
            <a:avLst>
              <a:gd name="adj" fmla="val 4762"/>
            </a:avLst>
          </a:prstGeom>
          <a:solidFill>
            <a:srgbClr val="F9F8FC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915400" y="2423160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8970264" y="320040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570464" y="2148840"/>
            <a:ext cx="1536192" cy="1783080"/>
          </a:xfrm>
          <a:prstGeom prst="roundRect">
            <a:avLst>
              <a:gd name="adj" fmla="val 4762"/>
            </a:avLst>
          </a:prstGeom>
          <a:solidFill>
            <a:srgbClr val="F9F8FC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570464" y="2423160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🛍️</a:t>
            </a:r>
            <a:endParaRPr lang="en-US" sz="3200" dirty="0"/>
          </a:p>
        </p:txBody>
      </p:sp>
      <p:sp>
        <p:nvSpPr>
          <p:cNvPr id="24" name="Text 22"/>
          <p:cNvSpPr txBox="1"/>
          <p:nvPr/>
        </p:nvSpPr>
        <p:spPr>
          <a:xfrm>
            <a:off x="10625328" y="3200400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4224528"/>
            <a:ext cx="1536192" cy="1783080"/>
          </a:xfrm>
          <a:prstGeom prst="roundRect">
            <a:avLst>
              <a:gd name="adj" fmla="val 4762"/>
            </a:avLst>
          </a:prstGeom>
          <a:solidFill>
            <a:srgbClr val="F9F8FC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4498848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🚗</a:t>
            </a:r>
            <a:endParaRPr lang="en-US" sz="32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" y="5276088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Automobile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95144" y="4224528"/>
            <a:ext cx="1536192" cy="1783080"/>
          </a:xfrm>
          <a:prstGeom prst="roundRect">
            <a:avLst>
              <a:gd name="adj" fmla="val 4762"/>
            </a:avLst>
          </a:prstGeom>
          <a:solidFill>
            <a:srgbClr val="F9F8FC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295144" y="4498848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</a:t>
            </a:r>
            <a:endParaRPr lang="en-US" sz="3200" dirty="0"/>
          </a:p>
        </p:txBody>
      </p:sp>
      <p:sp>
        <p:nvSpPr>
          <p:cNvPr id="30" name="Text 28"/>
          <p:cNvSpPr txBox="1"/>
          <p:nvPr/>
        </p:nvSpPr>
        <p:spPr>
          <a:xfrm>
            <a:off x="2350008" y="5276088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950208" y="4224528"/>
            <a:ext cx="1536192" cy="1783080"/>
          </a:xfrm>
          <a:prstGeom prst="roundRect">
            <a:avLst>
              <a:gd name="adj" fmla="val 4762"/>
            </a:avLst>
          </a:prstGeom>
          <a:solidFill>
            <a:srgbClr val="F9F8FC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950208" y="4498848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</a:t>
            </a:r>
            <a:endParaRPr lang="en-US" sz="3200" dirty="0"/>
          </a:p>
        </p:txBody>
      </p:sp>
      <p:sp>
        <p:nvSpPr>
          <p:cNvPr id="33" name="Text 31"/>
          <p:cNvSpPr txBox="1"/>
          <p:nvPr/>
        </p:nvSpPr>
        <p:spPr>
          <a:xfrm>
            <a:off x="4005072" y="5276088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05272" y="4224528"/>
            <a:ext cx="1536192" cy="1783080"/>
          </a:xfrm>
          <a:prstGeom prst="roundRect">
            <a:avLst>
              <a:gd name="adj" fmla="val 4762"/>
            </a:avLst>
          </a:prstGeom>
          <a:solidFill>
            <a:srgbClr val="F9F8FC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605272" y="4498848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</a:t>
            </a:r>
            <a:endParaRPr lang="en-US" sz="3200" dirty="0"/>
          </a:p>
        </p:txBody>
      </p:sp>
      <p:sp>
        <p:nvSpPr>
          <p:cNvPr id="36" name="Text 34"/>
          <p:cNvSpPr txBox="1"/>
          <p:nvPr/>
        </p:nvSpPr>
        <p:spPr>
          <a:xfrm>
            <a:off x="5660136" y="5276088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260336" y="4224528"/>
            <a:ext cx="1536192" cy="1783080"/>
          </a:xfrm>
          <a:prstGeom prst="roundRect">
            <a:avLst>
              <a:gd name="adj" fmla="val 4762"/>
            </a:avLst>
          </a:prstGeom>
          <a:solidFill>
            <a:srgbClr val="F9F8FC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260336" y="4498848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</a:t>
            </a:r>
            <a:endParaRPr lang="en-US" sz="3200" dirty="0"/>
          </a:p>
        </p:txBody>
      </p:sp>
      <p:sp>
        <p:nvSpPr>
          <p:cNvPr id="39" name="Text 37"/>
          <p:cNvSpPr txBox="1"/>
          <p:nvPr/>
        </p:nvSpPr>
        <p:spPr>
          <a:xfrm>
            <a:off x="7315200" y="5276088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Services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915400" y="4224528"/>
            <a:ext cx="1536192" cy="1783080"/>
          </a:xfrm>
          <a:prstGeom prst="roundRect">
            <a:avLst>
              <a:gd name="adj" fmla="val 4762"/>
            </a:avLst>
          </a:prstGeom>
          <a:solidFill>
            <a:srgbClr val="F9F8FC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915400" y="4498848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</a:t>
            </a:r>
            <a:endParaRPr lang="en-US" sz="3200" dirty="0"/>
          </a:p>
        </p:txBody>
      </p:sp>
      <p:sp>
        <p:nvSpPr>
          <p:cNvPr id="42" name="Text 40"/>
          <p:cNvSpPr txBox="1"/>
          <p:nvPr/>
        </p:nvSpPr>
        <p:spPr>
          <a:xfrm>
            <a:off x="8970264" y="5276088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Services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10570464" y="4224528"/>
            <a:ext cx="1536192" cy="1783080"/>
          </a:xfrm>
          <a:prstGeom prst="roundRect">
            <a:avLst>
              <a:gd name="adj" fmla="val 4762"/>
            </a:avLst>
          </a:prstGeom>
          <a:solidFill>
            <a:srgbClr val="F9F8FC"/>
          </a:solidFill>
          <a:ln w="12700">
            <a:solidFill>
              <a:srgbClr val="E8E6E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570464" y="4498848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3200" dirty="0"/>
          </a:p>
        </p:txBody>
      </p:sp>
      <p:sp>
        <p:nvSpPr>
          <p:cNvPr id="45" name="Text 43"/>
          <p:cNvSpPr txBox="1"/>
          <p:nvPr/>
        </p:nvSpPr>
        <p:spPr>
          <a:xfrm>
            <a:off x="10625328" y="5276088"/>
            <a:ext cx="14264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Services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Partner  •  Digital Marketing Consultant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Clients Say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by founders and marketing leaders at growth-focused companies.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40233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8E6E1"/>
            </a:solidFill>
            <a:prstDash val="solid"/>
          </a:ln>
          <a:effectLst>
            <a:outerShdw sx="100000" sy="100000" kx="0" ky="0" algn="bl" rotWithShape="0" blurRad="101600" dist="25400" dir="5400000">
              <a:srgbClr val="6B68C4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2402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★ ★ ★ ★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743200"/>
            <a:ext cx="2788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“Anbarasan helped us increase qualified leads by 60% within three months and reduce CPL by 21%, while organic traffic grew 40% over six months.”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51206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Jeo Maijo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54406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CEO, George Maijo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429000" cy="40233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8E6E1"/>
            </a:solidFill>
            <a:prstDash val="solid"/>
          </a:ln>
          <a:effectLst>
            <a:outerShdw sx="100000" sy="100000" kx="0" ky="0" algn="bl" rotWithShape="0" blurRad="101600" dist="25400" dir="5400000">
              <a:srgbClr val="6B68C4">
                <a:alpha val="14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63440" y="22402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★ ★ ★ ★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743200"/>
            <a:ext cx="2788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“He brought structure and a strong performance focus to our digital marketing — a more consistent approach to generating relevant business enquiries.”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51206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Gopi Krishan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54406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Redington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429000" cy="40233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8E6E1"/>
            </a:solidFill>
            <a:prstDash val="solid"/>
          </a:ln>
          <a:effectLst>
            <a:outerShdw sx="100000" sy="100000" kx="0" ky="0" algn="bl" rotWithShape="0" blurRad="101600" dist="25400" dir="5400000">
              <a:srgbClr val="6B68C4">
                <a:alpha val="14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366760" y="22402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★ ★ ★ ★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2743200"/>
            <a:ext cx="2788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“Lead generation strategy transformed our B2B pipeline. Cost per qualified lead dropped 62% while lead volume tripled. Clear ROI on every dollar spent.”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512064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Meera Choudhury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54406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Marketing, ProConnect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Partner  •  Digital Marketing Consultant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621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029200" cy="5029200"/>
          </a:xfrm>
          <a:prstGeom prst="ellipse">
            <a:avLst/>
          </a:prstGeom>
          <a:solidFill>
            <a:srgbClr val="7F77DD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023360"/>
            <a:ext cx="3840480" cy="3840480"/>
          </a:xfrm>
          <a:prstGeom prst="ellipse">
            <a:avLst/>
          </a:prstGeom>
          <a:solidFill>
            <a:srgbClr val="1D9E75">
              <a:alpha val="1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Scale Your Business?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889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discuss your growth goals, challenges, and what's possible. No fluff — just strategy and execution.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794760"/>
            <a:ext cx="457200" cy="45720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3767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Call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39959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+91 81220 80143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4572000"/>
            <a:ext cx="457200" cy="45720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4544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47731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anbupartneritech@gmail.com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5349240"/>
            <a:ext cx="457200" cy="457200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349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5321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55504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dm-anbarasan-portfolio.netlify.app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6355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8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Partner  •  38+ Projects  •  $320M+ Client Revenue Generated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2026-09-17T11:03:27Z</dcterms:created>
  <dcterms:modified xsi:type="dcterms:W3CDTF">2026-09-17T11:03:27Z</dcterms:modified>
</cp:coreProperties>
</file>